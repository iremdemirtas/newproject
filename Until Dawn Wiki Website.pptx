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Open Sans" charset="1" panose="020B0606030504020204"/>
      <p:regular r:id="rId15"/>
    </p:embeddedFont>
    <p:embeddedFont>
      <p:font typeface="Open Sans Bold" charset="1" panose="020B0806030504020204"/>
      <p:regular r:id="rId16"/>
    </p:embeddedFont>
    <p:embeddedFont>
      <p:font typeface="Libre Baskerville Bold" charset="1" panose="02000000000000000000"/>
      <p:regular r:id="rId17"/>
    </p:embeddedFont>
    <p:embeddedFont>
      <p:font typeface="DejaVu Serif Bold" charset="1" panose="02060803050605020204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9.pn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1.jpeg" Type="http://schemas.openxmlformats.org/officeDocument/2006/relationships/image"/><Relationship Id="rId4" Target="../media/image12.png" Type="http://schemas.openxmlformats.org/officeDocument/2006/relationships/image"/><Relationship Id="rId5" Target="../media/image13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568842" y="5057775"/>
            <a:ext cx="15150315" cy="6488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227"/>
              </a:lnSpc>
              <a:spcBef>
                <a:spcPct val="0"/>
              </a:spcBef>
            </a:pPr>
            <a:r>
              <a:rPr lang="en-US" sz="3733">
                <a:gradFill>
                  <a:gsLst>
                    <a:gs pos="0">
                      <a:srgbClr val="5DE0E6">
                        <a:alpha val="100000"/>
                      </a:srgbClr>
                    </a:gs>
                    <a:gs pos="100000">
                      <a:srgbClr val="004AAD">
                        <a:alpha val="100000"/>
                      </a:srgbClr>
                    </a:gs>
                  </a:gsLst>
                  <a:lin ang="0"/>
                </a:gradFill>
                <a:latin typeface="Open Sans"/>
                <a:ea typeface="Open Sans"/>
                <a:cs typeface="Open Sans"/>
                <a:sym typeface="Open Sans"/>
              </a:rPr>
              <a:t>Ezginur Yılmaz &amp; İrem Demirtaş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108985" y="3958021"/>
            <a:ext cx="14070030" cy="11854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154"/>
              </a:lnSpc>
            </a:pPr>
            <a:r>
              <a:rPr lang="en-US" b="true" sz="8322">
                <a:gradFill>
                  <a:gsLst>
                    <a:gs pos="0">
                      <a:srgbClr val="5DE0E6">
                        <a:alpha val="100000"/>
                      </a:srgbClr>
                    </a:gs>
                    <a:gs pos="100000">
                      <a:srgbClr val="004AAD">
                        <a:alpha val="100000"/>
                      </a:srgbClr>
                    </a:gs>
                  </a:gsLst>
                  <a:lin ang="0"/>
                </a:gradFill>
                <a:latin typeface="Open Sans Bold"/>
                <a:ea typeface="Open Sans Bold"/>
                <a:cs typeface="Open Sans Bold"/>
                <a:sym typeface="Open Sans Bold"/>
              </a:rPr>
              <a:t>Until Dawn Wiki Website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-3543958" y="9502333"/>
            <a:ext cx="15150315" cy="648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227"/>
              </a:lnSpc>
              <a:spcBef>
                <a:spcPct val="0"/>
              </a:spcBef>
            </a:pPr>
            <a:r>
              <a:rPr lang="en-US" sz="3733">
                <a:gradFill>
                  <a:gsLst>
                    <a:gs pos="0">
                      <a:srgbClr val="CDFFD8">
                        <a:alpha val="100000"/>
                      </a:srgbClr>
                    </a:gs>
                    <a:gs pos="100000">
                      <a:srgbClr val="94B9FF">
                        <a:alpha val="100000"/>
                      </a:srgbClr>
                    </a:gs>
                  </a:gsLst>
                  <a:lin ang="0"/>
                </a:gradFill>
                <a:latin typeface="Open Sans"/>
                <a:ea typeface="Open Sans"/>
                <a:cs typeface="Open Sans"/>
                <a:sym typeface="Open Sans"/>
              </a:rPr>
              <a:t>User Interface Design and Testing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539640" y="2126133"/>
            <a:ext cx="13208720" cy="6034734"/>
          </a:xfrm>
          <a:custGeom>
            <a:avLst/>
            <a:gdLst/>
            <a:ahLst/>
            <a:cxnLst/>
            <a:rect r="r" b="b" t="t" l="l"/>
            <a:pathLst>
              <a:path h="6034734" w="13208720">
                <a:moveTo>
                  <a:pt x="0" y="0"/>
                </a:moveTo>
                <a:lnTo>
                  <a:pt x="13208720" y="0"/>
                </a:lnTo>
                <a:lnTo>
                  <a:pt x="13208720" y="6034734"/>
                </a:lnTo>
                <a:lnTo>
                  <a:pt x="0" y="60347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8288000" cy="596880"/>
          </a:xfrm>
          <a:custGeom>
            <a:avLst/>
            <a:gdLst/>
            <a:ahLst/>
            <a:cxnLst/>
            <a:rect r="r" b="b" t="t" l="l"/>
            <a:pathLst>
              <a:path h="596880" w="18288000">
                <a:moveTo>
                  <a:pt x="0" y="0"/>
                </a:moveTo>
                <a:lnTo>
                  <a:pt x="18288000" y="0"/>
                </a:lnTo>
                <a:lnTo>
                  <a:pt x="18288000" y="596880"/>
                </a:lnTo>
                <a:lnTo>
                  <a:pt x="0" y="5968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178034" y="159703"/>
            <a:ext cx="5931932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b="true" sz="9200">
                <a:gradFill>
                  <a:gsLst>
                    <a:gs pos="0">
                      <a:srgbClr val="CDFFD8">
                        <a:alpha val="85000"/>
                      </a:srgbClr>
                    </a:gs>
                    <a:gs pos="100000">
                      <a:srgbClr val="94B9FF">
                        <a:alpha val="85000"/>
                      </a:srgbClr>
                    </a:gs>
                  </a:gsLst>
                  <a:lin ang="0"/>
                </a:gra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Overview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91779" y="8103717"/>
            <a:ext cx="17104441" cy="11978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88"/>
              </a:lnSpc>
              <a:spcBef>
                <a:spcPct val="0"/>
              </a:spcBef>
            </a:pPr>
            <a:r>
              <a:rPr lang="en-US" sz="349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 dedicated web platform for fans to explore the dark and atmospheric world of Blackwood Pines.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20331" y="644270"/>
            <a:ext cx="18708331" cy="9642730"/>
          </a:xfrm>
          <a:custGeom>
            <a:avLst/>
            <a:gdLst/>
            <a:ahLst/>
            <a:cxnLst/>
            <a:rect r="r" b="b" t="t" l="l"/>
            <a:pathLst>
              <a:path h="9642730" w="18708331">
                <a:moveTo>
                  <a:pt x="0" y="0"/>
                </a:moveTo>
                <a:lnTo>
                  <a:pt x="18708331" y="0"/>
                </a:lnTo>
                <a:lnTo>
                  <a:pt x="18708331" y="9642730"/>
                </a:lnTo>
                <a:lnTo>
                  <a:pt x="0" y="96427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191" t="0" r="-12442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8288000" cy="596880"/>
          </a:xfrm>
          <a:custGeom>
            <a:avLst/>
            <a:gdLst/>
            <a:ahLst/>
            <a:cxnLst/>
            <a:rect r="r" b="b" t="t" l="l"/>
            <a:pathLst>
              <a:path h="596880" w="18288000">
                <a:moveTo>
                  <a:pt x="0" y="0"/>
                </a:moveTo>
                <a:lnTo>
                  <a:pt x="18288000" y="0"/>
                </a:lnTo>
                <a:lnTo>
                  <a:pt x="18288000" y="596880"/>
                </a:lnTo>
                <a:lnTo>
                  <a:pt x="0" y="5968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164891" y="2077085"/>
            <a:ext cx="9958218" cy="7181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To build an organized and reliable wiki-style platform that serves as a primary source for Until Dawn storylines and character backgrounds.</a:t>
            </a:r>
          </a:p>
          <a:p>
            <a:pPr algn="l">
              <a:lnSpc>
                <a:spcPts val="4759"/>
              </a:lnSpc>
            </a:pP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To design a dark-themed visual environment that reflects the game’s horror aesthetic while ensuring a clean and readable user interface.</a:t>
            </a:r>
          </a:p>
          <a:p>
            <a:pPr algn="l">
              <a:lnSpc>
                <a:spcPts val="4759"/>
              </a:lnSpc>
            </a:pP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To integrate a JavaScript-based quiz that tests users' knowledge of the game, mirroring the choice-based nature of the original story.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801386" y="472820"/>
            <a:ext cx="4685229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b="true" sz="9200">
                <a:gradFill>
                  <a:gsLst>
                    <a:gs pos="0">
                      <a:srgbClr val="CDFFD8">
                        <a:alpha val="100000"/>
                      </a:srgbClr>
                    </a:gs>
                    <a:gs pos="100000">
                      <a:srgbClr val="94B9FF">
                        <a:alpha val="100000"/>
                      </a:srgbClr>
                    </a:gs>
                  </a:gsLst>
                  <a:lin ang="0"/>
                </a:gra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GOALS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596880"/>
          </a:xfrm>
          <a:custGeom>
            <a:avLst/>
            <a:gdLst/>
            <a:ahLst/>
            <a:cxnLst/>
            <a:rect r="r" b="b" t="t" l="l"/>
            <a:pathLst>
              <a:path h="596880" w="18288000">
                <a:moveTo>
                  <a:pt x="0" y="0"/>
                </a:moveTo>
                <a:lnTo>
                  <a:pt x="18288000" y="0"/>
                </a:lnTo>
                <a:lnTo>
                  <a:pt x="18288000" y="596880"/>
                </a:lnTo>
                <a:lnTo>
                  <a:pt x="0" y="5968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36433" y="596266"/>
            <a:ext cx="17615134" cy="1160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12"/>
              </a:lnSpc>
            </a:pPr>
            <a:r>
              <a:rPr lang="en-US" b="true" sz="6794">
                <a:gradFill>
                  <a:gsLst>
                    <a:gs pos="0">
                      <a:srgbClr val="CDFFD8">
                        <a:alpha val="100000"/>
                      </a:srgbClr>
                    </a:gs>
                    <a:gs pos="100000">
                      <a:srgbClr val="94B9FF">
                        <a:alpha val="100000"/>
                      </a:srgbClr>
                    </a:gs>
                  </a:gsLst>
                  <a:lin ang="0"/>
                </a:gra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USER ANALYSİS &amp; REQUİREMENTS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12519" y="2179572"/>
            <a:ext cx="6048375" cy="904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C2DCFF"/>
                </a:solidFill>
                <a:latin typeface="DejaVu Serif Bold"/>
                <a:ea typeface="DejaVu Serif Bold"/>
                <a:cs typeface="DejaVu Serif Bold"/>
                <a:sym typeface="DejaVu Serif Bold"/>
              </a:rPr>
              <a:t>Target</a:t>
            </a:r>
            <a:r>
              <a:rPr lang="en-US" sz="5199" b="true">
                <a:solidFill>
                  <a:srgbClr val="5CE1E6"/>
                </a:solidFill>
                <a:latin typeface="DejaVu Serif Bold"/>
                <a:ea typeface="DejaVu Serif Bold"/>
                <a:cs typeface="DejaVu Serif Bold"/>
                <a:sym typeface="DejaVu Serif Bold"/>
              </a:rPr>
              <a:t> </a:t>
            </a:r>
            <a:r>
              <a:rPr lang="en-US" sz="5199" b="true">
                <a:solidFill>
                  <a:srgbClr val="C2DCFF"/>
                </a:solidFill>
                <a:latin typeface="DejaVu Serif Bold"/>
                <a:ea typeface="DejaVu Serif Bold"/>
                <a:cs typeface="DejaVu Serif Bold"/>
                <a:sym typeface="DejaVu Serif Bold"/>
              </a:rPr>
              <a:t>Audience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4859" y="3131437"/>
            <a:ext cx="8673071" cy="3934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06119" indent="-403060" lvl="1">
              <a:lnSpc>
                <a:spcPts val="5227"/>
              </a:lnSpc>
              <a:buFont typeface="Arial"/>
              <a:buChar char="•"/>
            </a:pPr>
            <a:r>
              <a:rPr lang="en-US" sz="3733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Fans of horror and survival-drama games.</a:t>
            </a:r>
          </a:p>
          <a:p>
            <a:pPr algn="l" marL="806119" indent="-403060" lvl="1">
              <a:lnSpc>
                <a:spcPts val="5227"/>
              </a:lnSpc>
              <a:buFont typeface="Arial"/>
              <a:buChar char="•"/>
            </a:pPr>
            <a:r>
              <a:rPr lang="en-US" sz="3733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Fans of horror and survival-drama games.</a:t>
            </a:r>
          </a:p>
          <a:p>
            <a:pPr algn="l" marL="806119" indent="-403060" lvl="1">
              <a:lnSpc>
                <a:spcPts val="5227"/>
              </a:lnSpc>
              <a:buFont typeface="Arial"/>
              <a:buChar char="•"/>
            </a:pPr>
            <a:r>
              <a:rPr lang="en-US" sz="3733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Users interested in decision-based gameplay mechanics.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687209" y="2179572"/>
            <a:ext cx="4223028" cy="904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C2DCFF"/>
                </a:solidFill>
                <a:latin typeface="DejaVu Serif Bold"/>
                <a:ea typeface="DejaVu Serif Bold"/>
                <a:cs typeface="DejaVu Serif Bold"/>
                <a:sym typeface="DejaVu Serif Bold"/>
              </a:rPr>
              <a:t>User Needs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144000" y="3150487"/>
            <a:ext cx="8807567" cy="5981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 single, well-structured place to access story summaries and character details.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An engaging way to see which game character aligns with their own traits and choices.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 visual design that keeps the user in the "horror" mindset while they browse.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The ability to move easily between the story, characters, and the quiz without confusion.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603748" y="463530"/>
            <a:ext cx="15080504" cy="1210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40"/>
              </a:lnSpc>
            </a:pPr>
            <a:r>
              <a:rPr lang="en-US" b="true" sz="7100">
                <a:gradFill>
                  <a:gsLst>
                    <a:gs pos="0">
                      <a:srgbClr val="CDFFD8">
                        <a:alpha val="100000"/>
                      </a:srgbClr>
                    </a:gs>
                    <a:gs pos="100000">
                      <a:srgbClr val="94B9FF">
                        <a:alpha val="100000"/>
                      </a:srgbClr>
                    </a:gs>
                  </a:gsLst>
                  <a:lin ang="0"/>
                </a:gra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DESIGN PRINCIPLES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8288000" cy="596880"/>
          </a:xfrm>
          <a:custGeom>
            <a:avLst/>
            <a:gdLst/>
            <a:ahLst/>
            <a:cxnLst/>
            <a:rect r="r" b="b" t="t" l="l"/>
            <a:pathLst>
              <a:path h="596880" w="18288000">
                <a:moveTo>
                  <a:pt x="0" y="0"/>
                </a:moveTo>
                <a:lnTo>
                  <a:pt x="18288000" y="0"/>
                </a:lnTo>
                <a:lnTo>
                  <a:pt x="18288000" y="596880"/>
                </a:lnTo>
                <a:lnTo>
                  <a:pt x="0" y="5968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33394" y="2288456"/>
            <a:ext cx="3731657" cy="904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C2DCFF"/>
                </a:solidFill>
                <a:latin typeface="DejaVu Serif Bold"/>
                <a:ea typeface="DejaVu Serif Bold"/>
                <a:cs typeface="DejaVu Serif Bold"/>
                <a:sym typeface="DejaVu Serif Bold"/>
              </a:rPr>
              <a:t>Simplicity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0" y="3362960"/>
            <a:ext cx="8930102" cy="1780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Avoiding cluttered layouts and focusing on high-quality visuals and essential text for better readability.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815009" y="5765726"/>
            <a:ext cx="4675346" cy="904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C2DCFF"/>
                </a:solidFill>
                <a:latin typeface="DejaVu Serif Bold"/>
                <a:ea typeface="DejaVu Serif Bold"/>
                <a:cs typeface="DejaVu Serif Bold"/>
                <a:sym typeface="DejaVu Serif Bold"/>
              </a:rPr>
              <a:t>Consistency: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144000" y="6829090"/>
            <a:ext cx="8930102" cy="1780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Maintaining a unified dark-themed aesthetic and a constant na</a:t>
            </a: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vigation bar across all four pages.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1595059" y="2180002"/>
            <a:ext cx="3184336" cy="3184336"/>
          </a:xfrm>
          <a:custGeom>
            <a:avLst/>
            <a:gdLst/>
            <a:ahLst/>
            <a:cxnLst/>
            <a:rect r="r" b="b" t="t" l="l"/>
            <a:pathLst>
              <a:path h="3184336" w="3184336">
                <a:moveTo>
                  <a:pt x="0" y="0"/>
                </a:moveTo>
                <a:lnTo>
                  <a:pt x="3184336" y="0"/>
                </a:lnTo>
                <a:lnTo>
                  <a:pt x="3184336" y="3184336"/>
                </a:lnTo>
                <a:lnTo>
                  <a:pt x="0" y="31843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2717213" y="6004860"/>
            <a:ext cx="3495675" cy="3495675"/>
          </a:xfrm>
          <a:custGeom>
            <a:avLst/>
            <a:gdLst/>
            <a:ahLst/>
            <a:cxnLst/>
            <a:rect r="r" b="b" t="t" l="l"/>
            <a:pathLst>
              <a:path h="3495675" w="3495675">
                <a:moveTo>
                  <a:pt x="0" y="0"/>
                </a:moveTo>
                <a:lnTo>
                  <a:pt x="3495675" y="0"/>
                </a:lnTo>
                <a:lnTo>
                  <a:pt x="3495675" y="3495675"/>
                </a:lnTo>
                <a:lnTo>
                  <a:pt x="0" y="34956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596880"/>
          </a:xfrm>
          <a:custGeom>
            <a:avLst/>
            <a:gdLst/>
            <a:ahLst/>
            <a:cxnLst/>
            <a:rect r="r" b="b" t="t" l="l"/>
            <a:pathLst>
              <a:path h="596880" w="18288000">
                <a:moveTo>
                  <a:pt x="0" y="0"/>
                </a:moveTo>
                <a:lnTo>
                  <a:pt x="18288000" y="0"/>
                </a:lnTo>
                <a:lnTo>
                  <a:pt x="18288000" y="596880"/>
                </a:lnTo>
                <a:lnTo>
                  <a:pt x="0" y="5968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620878" y="463530"/>
            <a:ext cx="11046243" cy="1210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40"/>
              </a:lnSpc>
            </a:pPr>
            <a:r>
              <a:rPr lang="en-US" b="true" sz="7100">
                <a:gradFill>
                  <a:gsLst>
                    <a:gs pos="0">
                      <a:srgbClr val="CDFFD8">
                        <a:alpha val="100000"/>
                      </a:srgbClr>
                    </a:gs>
                    <a:gs pos="100000">
                      <a:srgbClr val="94B9FF">
                        <a:alpha val="100000"/>
                      </a:srgbClr>
                    </a:gs>
                  </a:gsLst>
                  <a:lin ang="0"/>
                </a:gra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DESIGN PRINCIPLES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745371" y="5835142"/>
            <a:ext cx="8037790" cy="904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C2DCFF"/>
                </a:solidFill>
                <a:latin typeface="DejaVu Serif Bold"/>
                <a:ea typeface="DejaVu Serif Bold"/>
                <a:cs typeface="DejaVu Serif Bold"/>
                <a:sym typeface="DejaVu Serif Bold"/>
              </a:rPr>
              <a:t>Feedb</a:t>
            </a:r>
            <a:r>
              <a:rPr lang="en-US" b="true" sz="5199">
                <a:solidFill>
                  <a:srgbClr val="C2DCFF"/>
                </a:solidFill>
                <a:latin typeface="DejaVu Serif Bold"/>
                <a:ea typeface="DejaVu Serif Bold"/>
                <a:cs typeface="DejaVu Serif Bold"/>
                <a:sym typeface="DejaVu Serif Bold"/>
              </a:rPr>
              <a:t>ack (Mini Test):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144000" y="6833132"/>
            <a:ext cx="8639161" cy="1780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Pro</a:t>
            </a: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viding immediate results in the personality quiz to confirm the user’s selection and match.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38944" y="2125811"/>
            <a:ext cx="3809047" cy="904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C2DCFF"/>
                </a:solidFill>
                <a:latin typeface="DejaVu Serif Bold"/>
                <a:ea typeface="DejaVu Serif Bold"/>
                <a:cs typeface="DejaVu Serif Bold"/>
                <a:sym typeface="DejaVu Serif Bold"/>
              </a:rPr>
              <a:t>Structure: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0" y="3096112"/>
            <a:ext cx="8196708" cy="2380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Organizing information hierarchically, ensuring a logical flow from the main story to specific character </a:t>
            </a: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details.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1171447" y="2059041"/>
            <a:ext cx="3495675" cy="3495675"/>
          </a:xfrm>
          <a:custGeom>
            <a:avLst/>
            <a:gdLst/>
            <a:ahLst/>
            <a:cxnLst/>
            <a:rect r="r" b="b" t="t" l="l"/>
            <a:pathLst>
              <a:path h="3495675" w="3495675">
                <a:moveTo>
                  <a:pt x="0" y="0"/>
                </a:moveTo>
                <a:lnTo>
                  <a:pt x="3495675" y="0"/>
                </a:lnTo>
                <a:lnTo>
                  <a:pt x="3495675" y="3495675"/>
                </a:lnTo>
                <a:lnTo>
                  <a:pt x="0" y="34956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2643468" y="5939917"/>
            <a:ext cx="3495675" cy="3495675"/>
          </a:xfrm>
          <a:custGeom>
            <a:avLst/>
            <a:gdLst/>
            <a:ahLst/>
            <a:cxnLst/>
            <a:rect r="r" b="b" t="t" l="l"/>
            <a:pathLst>
              <a:path h="3495675" w="3495675">
                <a:moveTo>
                  <a:pt x="0" y="0"/>
                </a:moveTo>
                <a:lnTo>
                  <a:pt x="3495675" y="0"/>
                </a:lnTo>
                <a:lnTo>
                  <a:pt x="3495675" y="3495675"/>
                </a:lnTo>
                <a:lnTo>
                  <a:pt x="0" y="34956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596880"/>
          </a:xfrm>
          <a:custGeom>
            <a:avLst/>
            <a:gdLst/>
            <a:ahLst/>
            <a:cxnLst/>
            <a:rect r="r" b="b" t="t" l="l"/>
            <a:pathLst>
              <a:path h="596880" w="18288000">
                <a:moveTo>
                  <a:pt x="0" y="0"/>
                </a:moveTo>
                <a:lnTo>
                  <a:pt x="18288000" y="0"/>
                </a:lnTo>
                <a:lnTo>
                  <a:pt x="18288000" y="596880"/>
                </a:lnTo>
                <a:lnTo>
                  <a:pt x="0" y="5968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357758" y="2808287"/>
            <a:ext cx="7622667" cy="8229600"/>
          </a:xfrm>
          <a:custGeom>
            <a:avLst/>
            <a:gdLst/>
            <a:ahLst/>
            <a:cxnLst/>
            <a:rect r="r" b="b" t="t" l="l"/>
            <a:pathLst>
              <a:path h="8229600" w="7622667">
                <a:moveTo>
                  <a:pt x="0" y="0"/>
                </a:moveTo>
                <a:lnTo>
                  <a:pt x="7622667" y="0"/>
                </a:lnTo>
                <a:lnTo>
                  <a:pt x="762266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802931">
            <a:off x="8956302" y="4695799"/>
            <a:ext cx="11706377" cy="7652723"/>
          </a:xfrm>
          <a:custGeom>
            <a:avLst/>
            <a:gdLst/>
            <a:ahLst/>
            <a:cxnLst/>
            <a:rect r="r" b="b" t="t" l="l"/>
            <a:pathLst>
              <a:path h="7652723" w="11706377">
                <a:moveTo>
                  <a:pt x="0" y="0"/>
                </a:moveTo>
                <a:lnTo>
                  <a:pt x="11706377" y="0"/>
                </a:lnTo>
                <a:lnTo>
                  <a:pt x="11706377" y="7652723"/>
                </a:lnTo>
                <a:lnTo>
                  <a:pt x="0" y="76527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-6244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980738" y="463530"/>
            <a:ext cx="14326524" cy="1226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80"/>
              </a:lnSpc>
            </a:pPr>
            <a:r>
              <a:rPr lang="en-US" b="true" sz="7200">
                <a:gradFill>
                  <a:gsLst>
                    <a:gs pos="0">
                      <a:srgbClr val="CDFFD8">
                        <a:alpha val="100000"/>
                      </a:srgbClr>
                    </a:gs>
                    <a:gs pos="100000">
                      <a:srgbClr val="94B9FF">
                        <a:alpha val="100000"/>
                      </a:srgbClr>
                    </a:gs>
                  </a:gsLst>
                  <a:lin ang="0"/>
                </a:gra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DEVELOPMENT PROCESS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115231" y="2310765"/>
            <a:ext cx="10057537" cy="880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true">
                <a:solidFill>
                  <a:srgbClr val="C2DCFF"/>
                </a:solidFill>
                <a:latin typeface="DejaVu Serif Bold"/>
                <a:ea typeface="DejaVu Serif Bold"/>
                <a:cs typeface="DejaVu Serif Bold"/>
                <a:sym typeface="DejaVu Serif Bold"/>
              </a:rPr>
              <a:t>Modular CSS Architecture: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899998" y="3327860"/>
            <a:ext cx="10488005" cy="1780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Implementing a custom styling system to maintain the </a:t>
            </a: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dark horror aesthetic across all pages while managing layout structures.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899998" y="5727525"/>
            <a:ext cx="11884462" cy="880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true">
                <a:solidFill>
                  <a:srgbClr val="C2DCFF"/>
                </a:solidFill>
                <a:latin typeface="DejaVu Serif Bold"/>
                <a:ea typeface="DejaVu Serif Bold"/>
                <a:cs typeface="DejaVu Serif Bold"/>
                <a:sym typeface="DejaVu Serif Bold"/>
              </a:rPr>
              <a:t>Dynamic JavaScrip</a:t>
            </a:r>
            <a:r>
              <a:rPr lang="en-US" b="true" sz="5000">
                <a:solidFill>
                  <a:srgbClr val="C2DCFF"/>
                </a:solidFill>
                <a:latin typeface="DejaVu Serif Bold"/>
                <a:ea typeface="DejaVu Serif Bold"/>
                <a:cs typeface="DejaVu Serif Bold"/>
                <a:sym typeface="DejaVu Serif Bold"/>
              </a:rPr>
              <a:t>t Interaction: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115231" y="6741620"/>
            <a:ext cx="10057537" cy="1780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Developing a logic-based scoring system for the personality quiz to pro</a:t>
            </a: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vide personalized character matches for the user.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596880"/>
          </a:xfrm>
          <a:custGeom>
            <a:avLst/>
            <a:gdLst/>
            <a:ahLst/>
            <a:cxnLst/>
            <a:rect r="r" b="b" t="t" l="l"/>
            <a:pathLst>
              <a:path h="596880" w="18288000">
                <a:moveTo>
                  <a:pt x="0" y="0"/>
                </a:moveTo>
                <a:lnTo>
                  <a:pt x="18288000" y="0"/>
                </a:lnTo>
                <a:lnTo>
                  <a:pt x="18288000" y="596880"/>
                </a:lnTo>
                <a:lnTo>
                  <a:pt x="0" y="5968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330777" y="1968648"/>
            <a:ext cx="7545798" cy="4095391"/>
          </a:xfrm>
          <a:custGeom>
            <a:avLst/>
            <a:gdLst/>
            <a:ahLst/>
            <a:cxnLst/>
            <a:rect r="r" b="b" t="t" l="l"/>
            <a:pathLst>
              <a:path h="4095391" w="7545798">
                <a:moveTo>
                  <a:pt x="0" y="0"/>
                </a:moveTo>
                <a:lnTo>
                  <a:pt x="7545798" y="0"/>
                </a:lnTo>
                <a:lnTo>
                  <a:pt x="7545798" y="4095391"/>
                </a:lnTo>
                <a:lnTo>
                  <a:pt x="0" y="40953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960413" y="5440327"/>
            <a:ext cx="7834176" cy="3667061"/>
          </a:xfrm>
          <a:custGeom>
            <a:avLst/>
            <a:gdLst/>
            <a:ahLst/>
            <a:cxnLst/>
            <a:rect r="r" b="b" t="t" l="l"/>
            <a:pathLst>
              <a:path h="3667061" w="7834176">
                <a:moveTo>
                  <a:pt x="0" y="0"/>
                </a:moveTo>
                <a:lnTo>
                  <a:pt x="7834176" y="0"/>
                </a:lnTo>
                <a:lnTo>
                  <a:pt x="7834176" y="3667061"/>
                </a:lnTo>
                <a:lnTo>
                  <a:pt x="0" y="36670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46978" y="6466045"/>
            <a:ext cx="7819135" cy="3504623"/>
          </a:xfrm>
          <a:custGeom>
            <a:avLst/>
            <a:gdLst/>
            <a:ahLst/>
            <a:cxnLst/>
            <a:rect r="r" b="b" t="t" l="l"/>
            <a:pathLst>
              <a:path h="3504623" w="7819135">
                <a:moveTo>
                  <a:pt x="0" y="0"/>
                </a:moveTo>
                <a:lnTo>
                  <a:pt x="7819135" y="0"/>
                </a:lnTo>
                <a:lnTo>
                  <a:pt x="7819135" y="3504622"/>
                </a:lnTo>
                <a:lnTo>
                  <a:pt x="0" y="350462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5637" t="0" r="-6111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46978" y="2221654"/>
            <a:ext cx="6996827" cy="880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b="true" sz="5000">
                <a:solidFill>
                  <a:srgbClr val="C2DCFF"/>
                </a:solidFill>
                <a:latin typeface="DejaVu Serif Bold"/>
                <a:ea typeface="DejaVu Serif Bold"/>
                <a:cs typeface="DejaVu Serif Bold"/>
                <a:sym typeface="DejaVu Serif Bold"/>
              </a:rPr>
              <a:t>Asset Optimization: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0" y="3381601"/>
            <a:ext cx="10057537" cy="2380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Carefully selecting an</a:t>
            </a: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 optimizing high-quality images and media to ensure the website remains atmospheric without compromising load times.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980738" y="463530"/>
            <a:ext cx="14326524" cy="1226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80"/>
              </a:lnSpc>
            </a:pPr>
            <a:r>
              <a:rPr lang="en-US" b="true" sz="7200">
                <a:gradFill>
                  <a:gsLst>
                    <a:gs pos="0">
                      <a:srgbClr val="CDFFD8">
                        <a:alpha val="100000"/>
                      </a:srgbClr>
                    </a:gs>
                    <a:gs pos="100000">
                      <a:srgbClr val="94B9FF">
                        <a:alpha val="100000"/>
                      </a:srgbClr>
                    </a:gs>
                  </a:gsLst>
                  <a:lin ang="0"/>
                </a:gra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DEVELOPMENT PROCESS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503044" y="1162049"/>
            <a:ext cx="15756256" cy="1459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948"/>
              </a:lnSpc>
            </a:pPr>
            <a:r>
              <a:rPr lang="en-US" b="true" sz="8534">
                <a:gradFill>
                  <a:gsLst>
                    <a:gs pos="0">
                      <a:srgbClr val="CDFFD8">
                        <a:alpha val="100000"/>
                      </a:srgbClr>
                    </a:gs>
                    <a:gs pos="100000">
                      <a:srgbClr val="94B9FF">
                        <a:alpha val="100000"/>
                      </a:srgbClr>
                    </a:gs>
                  </a:gsLst>
                  <a:lin ang="0"/>
                </a:gra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THANKS FOR LİSTENİNG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DAHItn3OsSA</dc:identifier>
  <dcterms:modified xsi:type="dcterms:W3CDTF">2011-08-01T06:04:30Z</dcterms:modified>
  <cp:revision>1</cp:revision>
  <dc:title>Until Dawn Wiki Website</dc:title>
</cp:coreProperties>
</file>